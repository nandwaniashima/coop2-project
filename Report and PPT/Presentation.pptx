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8" r:id="rId11"/>
    <p:sldId id="273" r:id="rId12"/>
    <p:sldId id="274" r:id="rId13"/>
    <p:sldId id="279" r:id="rId14"/>
    <p:sldId id="275" r:id="rId15"/>
    <p:sldId id="276" r:id="rId16"/>
    <p:sldId id="277" r:id="rId17"/>
    <p:sldId id="268" r:id="rId18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dirty="0"/>
              <a:t>Experimental Comparison of Disjoint and Overlapping Community Detection Algorithms in Simulated and Real World Networks</a:t>
            </a:r>
            <a:endParaRPr lang="en-US" sz="16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Ashima - 2210991398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Ashi Srivastava – 2210991396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Simarjit Virk</a:t>
            </a: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b="1" dirty="0">
                <a:solidFill>
                  <a:srgbClr val="000000"/>
                </a:solidFill>
                <a:latin typeface="Times New Roman"/>
              </a:rPr>
              <a:t>What is Community Detection?</a:t>
            </a:r>
          </a:p>
          <a:p>
            <a:pPr>
              <a:lnSpc>
                <a:spcPct val="130000"/>
              </a:lnSpc>
              <a:spcBef>
                <a:spcPts val="15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• A technique used to identify clusters (groups) of nodes in a network</a:t>
            </a:r>
          </a:p>
          <a:p>
            <a:pPr>
              <a:lnSpc>
                <a:spcPct val="130000"/>
              </a:lnSpc>
              <a:spcBef>
                <a:spcPts val="15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• Nodes within a community share stronger internal connections than external ones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b="1" dirty="0">
                <a:solidFill>
                  <a:srgbClr val="000000"/>
                </a:solidFill>
                <a:latin typeface="Times New Roman"/>
              </a:rPr>
              <a:t>Networks Where Communities Exist: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Social Media – friends, followers, interest groups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Biological Systems – protein interactions, gene regulatory networks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Communication Systems – call networks, email graphs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Transportation – road and airline route networks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b="1" dirty="0">
                <a:solidFill>
                  <a:srgbClr val="000000"/>
                </a:solidFill>
                <a:latin typeface="Times New Roman"/>
              </a:rPr>
              <a:t>Why It Matters: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Recommendation Systems – suggest friends, products, content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Fraud Detection – identify suspicious clusters of behaviour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Pattern Recognition – extract structure from complex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BEDA81-4844-2633-1836-EEC086BD8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871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Communities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287D049-3287-A7F8-FEFD-CCEF2300E10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380" y="1747791"/>
            <a:ext cx="8686620" cy="397728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Disjoint Communities: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Each node belongs to exactly one community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Assumes clear, non-overlapping group boundaries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Simpler to compute; less realistic for real-world networks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Example Algorithm: Louvain</a:t>
            </a:r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Overlapping Communities: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A node can belong to multiple communities simultaneously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Reflects real-world behaviour (a person in multiple social groups)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More complex to compute; more accurate representation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Example Algorithms: SLPA, BIGCLAM</a:t>
            </a:r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Dynamic Communities: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Communities evolve and change over time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Used in temporal networks and trend analysis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Highest computational complexity</a:t>
            </a:r>
          </a:p>
        </p:txBody>
      </p:sp>
    </p:spTree>
    <p:extLst>
      <p:ext uri="{BB962C8B-B14F-4D97-AF65-F5344CB8AC3E}">
        <p14:creationId xmlns:p14="http://schemas.microsoft.com/office/powerpoint/2010/main" val="1005643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427CD94-9000-AE86-3891-A8515FDD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6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E2B2DB0-A650-E903-2510-C47A69EDB5BB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73626" y="1755869"/>
            <a:ext cx="8229240" cy="397728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Background:</a:t>
            </a:r>
          </a:p>
          <a:p>
            <a:pPr>
              <a:lnSpc>
                <a:spcPct val="130000"/>
              </a:lnSpc>
              <a:spcBef>
                <a:spcPts val="15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• Real-world networks are inherently complex, noisy, and multi-layered</a:t>
            </a:r>
          </a:p>
          <a:p>
            <a:pPr>
              <a:lnSpc>
                <a:spcPct val="130000"/>
              </a:lnSpc>
              <a:spcBef>
                <a:spcPts val="15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• Traditional algorithms fail to capture the true community </a:t>
            </a:r>
            <a:r>
              <a:rPr lang="en-US" sz="1800" dirty="0" smtClean="0">
                <a:solidFill>
                  <a:srgbClr val="000000"/>
                </a:solidFill>
                <a:latin typeface="Times New Roman"/>
              </a:rPr>
              <a:t>structure</a:t>
            </a:r>
            <a:endParaRPr lang="en-US" sz="1800" dirty="0"/>
          </a:p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Key Challenges Identified: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Overlapping Memberships – nodes belong to multiple communities simultaneously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High Noise Sensitivity – algorithms degrade when network contains random edges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Memory &amp; Scalability – overlapping methods often have high memory overhead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No Universal Best Algorithm – performance varies by network type and noise </a:t>
            </a:r>
            <a:r>
              <a:rPr lang="en-US" sz="1800" dirty="0" smtClean="0">
                <a:solidFill>
                  <a:srgbClr val="000000"/>
                </a:solidFill>
                <a:latin typeface="Times New Roman"/>
              </a:rPr>
              <a:t>level</a:t>
            </a:r>
            <a:endParaRPr lang="en-US" sz="1800" dirty="0"/>
          </a:p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Research Need: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Systematically compare Louvain, SLPA, and BIGCLAM algorithms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Evaluate on both synthetic (LFR Benchmark) and real-world datasets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Identify the best-suited algorithm for different network scenarios</a:t>
            </a:r>
          </a:p>
        </p:txBody>
      </p:sp>
    </p:spTree>
    <p:extLst>
      <p:ext uri="{BB962C8B-B14F-4D97-AF65-F5344CB8AC3E}">
        <p14:creationId xmlns:p14="http://schemas.microsoft.com/office/powerpoint/2010/main" val="2149751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0BB6579-4758-392C-FE47-45B3D5F94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794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92F0504B-5F48-434E-0DD0-82BCD940F24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63794" y="1639299"/>
            <a:ext cx="8229240" cy="397728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Primary Objectives:</a:t>
            </a:r>
          </a:p>
          <a:p>
            <a:pPr>
              <a:lnSpc>
                <a:spcPct val="130000"/>
              </a:lnSpc>
              <a:spcBef>
                <a:spcPts val="15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• Study and understand community detection techniques for both disjoint and overlapping paradigms</a:t>
            </a:r>
          </a:p>
          <a:p>
            <a:pPr>
              <a:lnSpc>
                <a:spcPct val="130000"/>
              </a:lnSpc>
              <a:spcBef>
                <a:spcPts val="15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• Implement three algorithms: Louvain, SLPA, and BIGCLAM on benchmark datasets</a:t>
            </a:r>
          </a:p>
          <a:p>
            <a:pPr>
              <a:lnSpc>
                <a:spcPct val="130000"/>
              </a:lnSpc>
              <a:spcBef>
                <a:spcPts val="15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• Evaluate and compare algorithm performance using standardized metrics</a:t>
            </a:r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Performance Metrics Used: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Accuracy – Normalized Mutual Information (NMI)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Execution Time – time taken to detect communities (seconds)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Memory Usage – RAM consumed during computation (MB)</a:t>
            </a:r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Expected Outcome: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Identify strengths and weaknesses of each algorithm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Recommend the best algorithm based on network type and noise level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Provide empirical guidance for practitioners working with real-world networks</a:t>
            </a:r>
          </a:p>
        </p:txBody>
      </p:sp>
    </p:spTree>
    <p:extLst>
      <p:ext uri="{BB962C8B-B14F-4D97-AF65-F5344CB8AC3E}">
        <p14:creationId xmlns:p14="http://schemas.microsoft.com/office/powerpoint/2010/main" val="267714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CA4FE3-174A-99ED-607A-A7DCB53CF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1" y="0"/>
            <a:ext cx="5486040" cy="914040"/>
          </a:xfrm>
        </p:spPr>
        <p:txBody>
          <a:bodyPr/>
          <a:lstStyle/>
          <a:p>
            <a:r>
              <a:rPr lang="en-IN" sz="3200" dirty="0"/>
              <a:t>Methodology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08627E43-0321-5EE3-C296-23C70E90F66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53961" y="1636510"/>
            <a:ext cx="8229240" cy="397728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Step 1: Dataset Selection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Synthetic: LFR Benchmark graphs with controllable noise parameter (μ)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Real-world: Zachary's Karate Club (34 nodes) and Dolphins Network (62 nodes)</a:t>
            </a:r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Step 2: Algorithm Implementation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Louvain – modularity-based disjoint community detection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SLPA – Speaker-Listener Propagation for overlapping communities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BIGCLAM – probabilistic affiliation graph model for overlapping communities</a:t>
            </a:r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Step 3: Performance Evaluation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Measure NMI (accuracy), execution time (seconds), and memory usage (MB)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Run experiments across different noise levels (μ = 0.1 to 0.5)</a:t>
            </a:r>
          </a:p>
          <a:p>
            <a:pPr>
              <a:lnSpc>
                <a:spcPct val="100000"/>
              </a:lnSpc>
            </a:pPr>
            <a:endParaRPr lang="en-US" sz="1800" dirty="0"/>
          </a:p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Step 4: Comparative Analysis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Cross-algorithm comparison on each dataset and noise condition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Draw conclusions and formulate algorithm selection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1783474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959" y="1241947"/>
            <a:ext cx="6045957" cy="466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10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511ACD-5E92-79D8-4069-F779D281E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10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BD57625C-3312-65CA-B6FF-A834BCB4B20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02789" y="1635484"/>
            <a:ext cx="8229240" cy="397728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Programming Language: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Python 3.x – widely used for data science and graph </a:t>
            </a:r>
            <a:r>
              <a:rPr lang="en-US" sz="1800" dirty="0" smtClean="0">
                <a:solidFill>
                  <a:srgbClr val="000000"/>
                </a:solidFill>
                <a:latin typeface="Times New Roman"/>
              </a:rPr>
              <a:t>processing</a:t>
            </a:r>
            <a:endParaRPr lang="en-US" sz="1800" dirty="0"/>
          </a:p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Libraries Used: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NetworkX – graph construction, processing, and visualization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CDlib – implementation of community detection algorithms (Louvain, SLPA, BIGCLAM)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Matplotlib – result visualization and plotting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NumPy / Pandas – data processing and result </a:t>
            </a:r>
            <a:r>
              <a:rPr lang="en-US" sz="1800" dirty="0" smtClean="0">
                <a:solidFill>
                  <a:srgbClr val="000000"/>
                </a:solidFill>
                <a:latin typeface="Times New Roman"/>
              </a:rPr>
              <a:t>tabulation</a:t>
            </a:r>
            <a:endParaRPr lang="en-US" sz="1800" dirty="0"/>
          </a:p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Platform: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Google Colab – cloud-based Python environment with GPU/CPU support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Enables reproducible experiments and easy </a:t>
            </a:r>
            <a:r>
              <a:rPr lang="en-US" sz="1800" dirty="0" smtClean="0">
                <a:solidFill>
                  <a:srgbClr val="000000"/>
                </a:solidFill>
                <a:latin typeface="Times New Roman"/>
              </a:rPr>
              <a:t>collaboration</a:t>
            </a:r>
            <a:endParaRPr lang="en-US" sz="1800" dirty="0"/>
          </a:p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/>
              </a:rPr>
              <a:t>Datasets: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Karate Club Network – 34 nodes, 78 edges (Zachary, 1977)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Dolphins Network – 62 nodes, 159 edges (Lusseau et al., 2003)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800" dirty="0">
                <a:solidFill>
                  <a:srgbClr val="000000"/>
                </a:solidFill>
                <a:latin typeface="Times New Roman"/>
              </a:rPr>
              <a:t>  – LFR Benchmark – synthetic graphs with variable noise parameter μ</a:t>
            </a:r>
          </a:p>
        </p:txBody>
      </p:sp>
    </p:spTree>
    <p:extLst>
      <p:ext uri="{BB962C8B-B14F-4D97-AF65-F5344CB8AC3E}">
        <p14:creationId xmlns:p14="http://schemas.microsoft.com/office/powerpoint/2010/main" val="4268621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8D032D6-8D64-3645-9FCD-6B1B5F153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74" y="0"/>
            <a:ext cx="5486040" cy="914040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solidFill>
                  <a:srgbClr val="FFFFFF"/>
                </a:solidFill>
                <a:latin typeface="Times New Roman"/>
              </a:rPr>
              <a:t>Algorithm Used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87A2AAB-6AE9-A01A-F257-3B12217BCF27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>
            <a:noAutofit/>
          </a:bodyPr>
          <a:lstStyle/>
          <a:p>
            <a:pPr>
              <a:buNone/>
            </a:pPr>
            <a:endParaRPr lang="en-US" sz="1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35973" y="914040"/>
            <a:ext cx="8762883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Louvain Algorithm (Disjoint):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Modularity optimization: greedily merges nodes to maximize Q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Two-phase: local modularity optimization + graph aggregation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Time complexity: O(n log n) – fast and scalable to large graphs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Best suited for: large networks, low-noise conditions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SLPA – Speaker-Listener Propagation Algorithm (Overlapping):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Nodes propagate community labels iteratively as speakers and listeners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Threshold τ controls the degree of overlap detection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Robust to noise; handles overlapping memberships effectively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BIGCLAM – Clique-based Community Affiliation Model (Overlapping):</a:t>
            </a:r>
          </a:p>
          <a:p>
            <a:pPr marL="457200">
              <a:buNone/>
            </a:pPr>
            <a:r>
              <a:rPr lang="en-US" sz="1400" dirty="0" smtClean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dirty="0">
                <a:solidFill>
                  <a:srgbClr val="000000"/>
                </a:solidFill>
                <a:latin typeface="Times New Roman"/>
              </a:rPr>
              <a:t>– Models membership as probabilistic affiliation strength F(</a:t>
            </a:r>
            <a:r>
              <a:rPr lang="en-US" dirty="0" err="1">
                <a:solidFill>
                  <a:srgbClr val="000000"/>
                </a:solidFill>
                <a:latin typeface="Times New Roman"/>
              </a:rPr>
              <a:t>u,c</a:t>
            </a:r>
            <a:r>
              <a:rPr lang="en-US" dirty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/>
              </a:rPr>
              <a:t>– </a:t>
            </a:r>
            <a:r>
              <a:rPr lang="en-US" dirty="0">
                <a:solidFill>
                  <a:srgbClr val="000000"/>
                </a:solidFill>
                <a:latin typeface="Times New Roman"/>
              </a:rPr>
              <a:t>Optimized via gradient ascent on a log-likelihood objective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Times New Roman"/>
              </a:rPr>
              <a:t>– </a:t>
            </a:r>
            <a:r>
              <a:rPr lang="en-US" dirty="0">
                <a:solidFill>
                  <a:srgbClr val="000000"/>
                </a:solidFill>
                <a:latin typeface="Times New Roman"/>
              </a:rPr>
              <a:t>Highest accuracy for overlapping communities; higher computational cost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642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457" y="2702256"/>
            <a:ext cx="7438029" cy="32072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73707" y="1201003"/>
            <a:ext cx="71377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Karate Club network community partitions: Louvain (left) vs. SLPA (right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3592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7F832B-124B-6D96-35B7-97B75CB79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478" y="0"/>
            <a:ext cx="5486040" cy="914040"/>
          </a:xfr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solidFill>
                  <a:srgbClr val="FFFFFF"/>
                </a:solidFill>
                <a:latin typeface="Times New Roman"/>
              </a:rPr>
              <a:t>Result &amp;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2BCD6A28-2F5E-A402-790E-CEC490408834}"/>
              </a:ext>
            </a:extLst>
          </p:cNvPr>
          <p:cNvSpPr>
            <a:spLocks noGrp="1"/>
          </p:cNvSpPr>
          <p:nvPr>
            <p:ph type="subTitle"/>
          </p:nvPr>
        </p:nvSpPr>
        <p:spPr/>
        <p:txBody>
          <a:bodyPr>
            <a:noAutofit/>
          </a:bodyPr>
          <a:lstStyle/>
          <a:p>
            <a:pPr>
              <a:buNone/>
            </a:pPr>
            <a:endParaRPr lang="en-US" sz="140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6478" y="1264369"/>
            <a:ext cx="915764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Louvain Algorithm: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Achieved highest NMI scores in low-noise (μ ≤ 0.2) networks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Fastest execution time across all experiments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Performance degrades significantly when communities overlap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SLPA Algorithm: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Maintained stable NMI scores across high-noise (μ up to 0.5) conditions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Successfully detected overlapping community memberships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Lowest memory consumption among the three algorithms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BIGCLAM Algorithm: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Achieved the highest overall NMI for overlapping community detection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Slowest execution time due to iterative gradient ascent optimization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/>
              </a:rPr>
              <a:t>Key Observation:</a:t>
            </a:r>
          </a:p>
          <a:p>
            <a:pPr marL="457200">
              <a:buNone/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  – No single algorithm is universally best – depends on network type, noise, and resources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558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46BFAD17-0D2C-2DBB-0266-47B07A519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8485279"/>
              </p:ext>
            </p:extLst>
          </p:nvPr>
        </p:nvGraphicFramePr>
        <p:xfrm>
          <a:off x="924231" y="1888613"/>
          <a:ext cx="7346312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181">
                  <a:extLst>
                    <a:ext uri="{9D8B030D-6E8A-4147-A177-3AD203B41FA5}">
                      <a16:colId xmlns:a16="http://schemas.microsoft.com/office/drawing/2014/main" xmlns="" val="1881479121"/>
                    </a:ext>
                  </a:extLst>
                </a:gridCol>
                <a:gridCol w="1282597">
                  <a:extLst>
                    <a:ext uri="{9D8B030D-6E8A-4147-A177-3AD203B41FA5}">
                      <a16:colId xmlns:a16="http://schemas.microsoft.com/office/drawing/2014/main" xmlns="" val="998433026"/>
                    </a:ext>
                  </a:extLst>
                </a:gridCol>
                <a:gridCol w="1433015">
                  <a:extLst>
                    <a:ext uri="{9D8B030D-6E8A-4147-A177-3AD203B41FA5}">
                      <a16:colId xmlns:a16="http://schemas.microsoft.com/office/drawing/2014/main" xmlns="" val="304042037"/>
                    </a:ext>
                  </a:extLst>
                </a:gridCol>
                <a:gridCol w="1733266">
                  <a:extLst>
                    <a:ext uri="{9D8B030D-6E8A-4147-A177-3AD203B41FA5}">
                      <a16:colId xmlns:a16="http://schemas.microsoft.com/office/drawing/2014/main" xmlns="" val="1438940093"/>
                    </a:ext>
                  </a:extLst>
                </a:gridCol>
                <a:gridCol w="1501253">
                  <a:extLst>
                    <a:ext uri="{9D8B030D-6E8A-4147-A177-3AD203B41FA5}">
                      <a16:colId xmlns:a16="http://schemas.microsoft.com/office/drawing/2014/main" xmlns="" val="4537093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Algorithm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Overlap</a:t>
                      </a:r>
                      <a:r>
                        <a:rPr lang="en-IN" baseline="0" dirty="0" smtClean="0"/>
                        <a:t> Detection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Complexity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Main</a:t>
                      </a:r>
                      <a:r>
                        <a:rPr lang="en-IN" baseline="0" dirty="0" smtClean="0"/>
                        <a:t> Advantages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Drawbacks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15358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96727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Louvain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O(m)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Scalable, Fast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Exclusive</a:t>
                      </a:r>
                      <a:r>
                        <a:rPr lang="en-IN" baseline="0" dirty="0" smtClean="0"/>
                        <a:t> Groups only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73661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SLPA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O(m)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Fast, Flexible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Inconsistent in sparse graphs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57597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BIGCLAM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Yes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O(</a:t>
                      </a:r>
                      <a:r>
                        <a:rPr lang="en-IN" dirty="0" err="1" smtClean="0"/>
                        <a:t>mk</a:t>
                      </a:r>
                      <a:r>
                        <a:rPr lang="en-IN" dirty="0" smtClean="0"/>
                        <a:t>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Probabilistic, interpretable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Needs</a:t>
                      </a:r>
                      <a:r>
                        <a:rPr lang="en-IN" baseline="0" dirty="0" smtClean="0"/>
                        <a:t> k tuning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3102360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58EB38E-918E-FBCA-7A06-F5A1426D391E}"/>
              </a:ext>
            </a:extLst>
          </p:cNvPr>
          <p:cNvSpPr txBox="1"/>
          <p:nvPr/>
        </p:nvSpPr>
        <p:spPr>
          <a:xfrm>
            <a:off x="353961" y="147484"/>
            <a:ext cx="452283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Table</a:t>
            </a:r>
          </a:p>
        </p:txBody>
      </p:sp>
    </p:spTree>
    <p:extLst>
      <p:ext uri="{BB962C8B-B14F-4D97-AF65-F5344CB8AC3E}">
        <p14:creationId xmlns:p14="http://schemas.microsoft.com/office/powerpoint/2010/main" val="709245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2C0126B-C52C-454F-C0D5-945AD4FD8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4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15FDE1-4BE1-3F11-28E9-F3A7F8AF257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24464" y="1793206"/>
            <a:ext cx="8229240" cy="3977280"/>
          </a:xfrm>
        </p:spPr>
        <p:txBody>
          <a:bodyPr>
            <a:noAutofit/>
          </a:bodyPr>
          <a:lstStyle/>
          <a:p>
            <a:pPr>
              <a:lnSpc>
                <a:spcPct val="130000"/>
              </a:lnSpc>
              <a:spcBef>
                <a:spcPts val="15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• This study conducted an experimental comparison of Louvain, SLPA, and BIGCLAM algorithms for community detection on simulated and real-world networks.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30000"/>
              </a:lnSpc>
              <a:spcBef>
                <a:spcPts val="15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• Louvain is fastest and achieves high accuracy in low-noise, disjoint community networks — recommended for large-scale graphs.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30000"/>
              </a:lnSpc>
              <a:spcBef>
                <a:spcPts val="15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• SLPA effectively handles overlapping memberships and performs well under high noise, with the lowest memory footprint.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30000"/>
              </a:lnSpc>
              <a:spcBef>
                <a:spcPts val="15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• BIGCLAM delivers the highest accuracy for overlapping community detection but at a higher computational cost.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30000"/>
              </a:lnSpc>
              <a:spcBef>
                <a:spcPts val="15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• No universal best algorithm exists — the optimal choice depends on network topology, noise level, overlap degree, and resource constraints.</a:t>
            </a:r>
          </a:p>
          <a:p>
            <a:pPr>
              <a:lnSpc>
                <a:spcPct val="100000"/>
              </a:lnSpc>
            </a:pPr>
            <a:endParaRPr lang="en-US" sz="1600" dirty="0"/>
          </a:p>
          <a:p>
            <a:pPr>
              <a:lnSpc>
                <a:spcPct val="130000"/>
              </a:lnSpc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/>
              </a:rPr>
              <a:t>Future Work: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  – Explore dynamic community detection for temporal networks</a:t>
            </a:r>
          </a:p>
          <a:p>
            <a:pPr marL="457200">
              <a:lnSpc>
                <a:spcPct val="120000"/>
              </a:lnSpc>
              <a:spcBef>
                <a:spcPts val="100"/>
              </a:spcBef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  – Test scalability on large-scale real-world datasets (millions of nodes)</a:t>
            </a:r>
          </a:p>
        </p:txBody>
      </p:sp>
    </p:spTree>
    <p:extLst>
      <p:ext uri="{BB962C8B-B14F-4D97-AF65-F5344CB8AC3E}">
        <p14:creationId xmlns:p14="http://schemas.microsoft.com/office/powerpoint/2010/main" val="407852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38888</TotalTime>
  <Words>1208</Words>
  <Application>Microsoft Office PowerPoint</Application>
  <PresentationFormat>On-screen Show (4:3)</PresentationFormat>
  <Paragraphs>178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MS PGothic</vt:lpstr>
      <vt:lpstr>Arial</vt:lpstr>
      <vt:lpstr>Calibri</vt:lpstr>
      <vt:lpstr>DejaVu Sans</vt:lpstr>
      <vt:lpstr>Times New Roman</vt:lpstr>
      <vt:lpstr>Office Theme</vt:lpstr>
      <vt:lpstr>PowerPoint Presentation</vt:lpstr>
      <vt:lpstr>PowerPoint Presentation</vt:lpstr>
      <vt:lpstr>Types of Communities</vt:lpstr>
      <vt:lpstr>Problem Statement</vt:lpstr>
      <vt:lpstr>Objectives</vt:lpstr>
      <vt:lpstr>Methodology</vt:lpstr>
      <vt:lpstr>PowerPoint Presentation</vt:lpstr>
      <vt:lpstr>Tools and Technology</vt:lpstr>
      <vt:lpstr>Algorithm Used</vt:lpstr>
      <vt:lpstr>PowerPoint Presentation</vt:lpstr>
      <vt:lpstr>Result &amp; Analysis</vt:lpstr>
      <vt:lpstr>PowerPoint Presentation</vt:lpstr>
      <vt:lpstr>Conclusion</vt:lpstr>
      <vt:lpstr>PowerPoint Presentation</vt:lpstr>
    </vt:vector>
  </TitlesOfParts>
  <Company>CCC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MY</cp:lastModifiedBy>
  <cp:revision>2306</cp:revision>
  <dcterms:created xsi:type="dcterms:W3CDTF">2010-04-09T07:36:15Z</dcterms:created>
  <dcterms:modified xsi:type="dcterms:W3CDTF">2026-05-05T18:21:25Z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